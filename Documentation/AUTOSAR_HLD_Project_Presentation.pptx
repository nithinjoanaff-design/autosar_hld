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2926080" cy="347472"/>
          </a:xfrm>
          <a:prstGeom prst="rect">
            <a:avLst/>
          </a:prstGeom>
          <a:solidFill>
            <a:srgbClr val="00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D2FF"/>
                </a:solidFill>
                <a:latin typeface="Calibri"/>
              </a:rPr>
              <a:t>⚡  AUTOMOTIVE AI  •  RAG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AUTOSAR HLD Intelligence 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2FF"/>
                </a:solidFill>
                <a:latin typeface="Calibri"/>
              </a:rPr>
              <a:t>Traceability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Retrieval-Augmented Generation (RAG) for Automotive ECU High-Level Design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2560320" cy="82296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🏗  Two-Stage RAG Pipeline</a:t>
            </a:r>
          </a:p>
          <a:p>
            <a:pPr algn="ctr"/>
            <a:r>
              <a:rPr sz="900">
                <a:solidFill>
                  <a:srgbClr val="00D2FF"/>
                </a:solidFill>
                <a:latin typeface="Calibri"/>
              </a:rPr>
              <a:t>FAISS + Cross-Encoder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794760"/>
            <a:ext cx="2560320" cy="82296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🤖  Local LLM (Ollama)</a:t>
            </a:r>
          </a:p>
          <a:p>
            <a:pPr algn="ctr"/>
            <a:r>
              <a:rPr sz="900">
                <a:solidFill>
                  <a:srgbClr val="00D2FF"/>
                </a:solidFill>
                <a:latin typeface="Calibri"/>
              </a:rPr>
              <a:t>deepseek-r1:1.5b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3794760"/>
            <a:ext cx="2560320" cy="82296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✅  Automated Tests</a:t>
            </a:r>
          </a:p>
          <a:p>
            <a:pPr algn="ctr"/>
            <a:r>
              <a:rPr sz="900">
                <a:solidFill>
                  <a:srgbClr val="00D2FF"/>
                </a:solidFill>
                <a:latin typeface="Calibri"/>
              </a:rPr>
              <a:t>78 / 78 Passed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794760"/>
            <a:ext cx="2560320" cy="82296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🔒  Fully Offline</a:t>
            </a:r>
          </a:p>
          <a:p>
            <a:pPr algn="ctr"/>
            <a:r>
              <a:rPr sz="900">
                <a:solidFill>
                  <a:srgbClr val="00D2FF"/>
                </a:solidFill>
                <a:latin typeface="Calibri"/>
              </a:rPr>
              <a:t>Zero Data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Engineering Project Presentation  •  B.Tech / M.Tech Final Year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2377440" cy="2926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01  — 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does this problem exist?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3566160" cy="228600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D2FF"/>
                </a:solidFill>
                <a:latin typeface="Calibri"/>
              </a:rPr>
              <a:t>📄  Document Overload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Automotive ECU HLD specifications span hundreds of dense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pages detailing SWCs, ports, CAN signals, and BSW layers.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Engineers spend hours manually searching for inter-module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dependencies and specification gaps.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19" y="1051560"/>
            <a:ext cx="3566160" cy="228600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14300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D2FF"/>
                </a:solidFill>
                <a:latin typeface="Calibri"/>
              </a:rPr>
              <a:t>🤥  LLM Hallucinations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Standard LLMs (ChatGPT, etc.) hallucinate automotive facts.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They invent non-existent signal names, false CAN IDs, and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fabricated page references when asked about proprietary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automotive architectures not in their training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58" y="1051560"/>
            <a:ext cx="3566160" cy="228600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8" y="114300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D2FF"/>
                </a:solidFill>
                <a:latin typeface="Calibri"/>
              </a:rPr>
              <a:t>🔒  IP &amp; Confidentiality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AUTOSAR HLD documents are strictly proprietary OEM/Tier-1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trade secrets. Uploading them to public cloud AI APIs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creates unacceptable legal, IP, and regulatory risks.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  <a:latin typeface="Calibri"/>
              </a:rPr>
              <a:t>Engineers need a fully offline, private alternative.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204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2FF"/>
                </a:solidFill>
                <a:latin typeface="Calibri"/>
              </a:rPr>
              <a:t>✅  SOLUTION:  A local, offline Two-Stage RAG system grounding answers in verified automotive document evidence with exact page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2377440" cy="2926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02  —  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AUTOSAR HLD Intelligence &amp; Traceability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3703320" cy="141732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🔍  Semantic Q&amp;A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Ask natural language questions about SWCs, ports,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signals, and dependencies — grounded answers with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exact source-page citations from uploaded HLD PDFs.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78992"/>
            <a:ext cx="3703320" cy="141732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170432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⚡  Two-Stage RAG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Stage 1: FAISS vector search (top-15 candidates).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Stage 2: Cross-Encoder re-ranking (top-5 evidence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passages). Eliminates lexical false positives.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078992"/>
            <a:ext cx="3703320" cy="141732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170432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🏗  Architecture Analyzer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Heuristic extraction of candidate SWCs, provided/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required ports, CAN/LIN signals, BSW layers, and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functional inconsistencies — with CSV export.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3703320" cy="141732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🤖  Local LLM (Private)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Ollama + deepseek-r1:1.5b runs 100% offline.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Confidential automotive IP never leaves the laptop.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Works with zero GPU, zero API cost, zero internet.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606040"/>
            <a:ext cx="3703320" cy="141732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69748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📊  Document Compare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Side-by-side HLD revision diffing. Detect additions,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removals, and term-level changes between two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specification versions uploaded simultaneously.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606040"/>
            <a:ext cx="3703320" cy="141732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697480"/>
            <a:ext cx="3429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✅  Verified Citations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All cited document names and page numbers are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programmatically validated against ground-truth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E2E8F0"/>
                </a:solidFill>
                <a:latin typeface="Calibri"/>
              </a:rPr>
              <a:t>chunks — LLM cannot hallucinate page references.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Streamlit 4-Tab Web UI  •  start_app.bat 1-Click Launch  •  78/78 Tests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2377440" cy="2926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03  —  RAG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End-to-End Two-Stage RAG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828800" cy="1645920"/>
          </a:xfrm>
          <a:prstGeom prst="rect">
            <a:avLst/>
          </a:prstGeom>
          <a:solidFill>
            <a:srgbClr val="152033"/>
          </a:solidFill>
          <a:ln w="1016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6459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  <a:latin typeface="Calibri"/>
              </a:rPr>
              <a:t>01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PDF Upload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Calibri"/>
              </a:rPr>
              <a:t>PyMuPDF
page-by-page
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1" y="1737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005840"/>
            <a:ext cx="1828800" cy="1645920"/>
          </a:xfrm>
          <a:prstGeom prst="rect">
            <a:avLst/>
          </a:prstGeom>
          <a:solidFill>
            <a:srgbClr val="152033"/>
          </a:solidFill>
          <a:ln w="1016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1078992"/>
            <a:ext cx="16459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  <a:latin typeface="Calibri"/>
              </a:rPr>
              <a:t>02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Chunking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Calibri"/>
              </a:rPr>
              <a:t>800 chars
150 overlap
provenance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19" y="1737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1005840"/>
            <a:ext cx="1828800" cy="1645920"/>
          </a:xfrm>
          <a:prstGeom prst="rect">
            <a:avLst/>
          </a:prstGeom>
          <a:solidFill>
            <a:srgbClr val="152033"/>
          </a:solidFill>
          <a:ln w="1016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078992"/>
            <a:ext cx="16459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  <a:latin typeface="Calibri"/>
              </a:rPr>
              <a:t>03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Embeddings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Calibri"/>
              </a:rPr>
              <a:t>all-MiniLM
L6-v2
384-dim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7" y="1737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005840"/>
            <a:ext cx="1828800" cy="1645920"/>
          </a:xfrm>
          <a:prstGeom prst="rect">
            <a:avLst/>
          </a:prstGeom>
          <a:solidFill>
            <a:srgbClr val="152033"/>
          </a:solidFill>
          <a:ln w="1016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078992"/>
            <a:ext cx="16459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  <a:latin typeface="Calibri"/>
              </a:rPr>
              <a:t>04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FAISS Index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Calibri"/>
              </a:rPr>
              <a:t>IndexFlatIP
cosine sim
top-15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1737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7032" y="1005840"/>
            <a:ext cx="1828800" cy="1645920"/>
          </a:xfrm>
          <a:prstGeom prst="rect">
            <a:avLst/>
          </a:prstGeom>
          <a:solidFill>
            <a:srgbClr val="152033"/>
          </a:solidFill>
          <a:ln w="1016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078992"/>
            <a:ext cx="16459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  <a:latin typeface="Calibri"/>
              </a:rPr>
              <a:t>05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Cross-Encoder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Calibri"/>
              </a:rPr>
              <a:t>ms-marco
re-rank
top-5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3263" y="1737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1005840"/>
            <a:ext cx="1828800" cy="1645920"/>
          </a:xfrm>
          <a:prstGeom prst="rect">
            <a:avLst/>
          </a:prstGeom>
          <a:solidFill>
            <a:srgbClr val="152033"/>
          </a:solidFill>
          <a:ln w="1016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1078992"/>
            <a:ext cx="16459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2FF"/>
                </a:solidFill>
                <a:latin typeface="Calibri"/>
              </a:rPr>
              <a:t>06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LLM Answer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Calibri"/>
              </a:rPr>
              <a:t>Ollama
deepseek-r1
verified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88920"/>
            <a:ext cx="1828800" cy="566928"/>
          </a:xfrm>
          <a:prstGeom prst="rect">
            <a:avLst/>
          </a:prstGeom>
          <a:solidFill>
            <a:srgbClr val="00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Input Stage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04288" y="2788920"/>
            <a:ext cx="1828800" cy="566928"/>
          </a:xfrm>
          <a:prstGeom prst="rect">
            <a:avLst/>
          </a:prstGeom>
          <a:solidFill>
            <a:srgbClr val="00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Knowledge 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8536" y="2788920"/>
            <a:ext cx="1828800" cy="566928"/>
          </a:xfrm>
          <a:prstGeom prst="rect">
            <a:avLst/>
          </a:prstGeom>
          <a:solidFill>
            <a:srgbClr val="00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Two-Stage Retrieval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2788920"/>
            <a:ext cx="1828800" cy="566928"/>
          </a:xfrm>
          <a:prstGeom prst="rect">
            <a:avLst/>
          </a:prstGeom>
          <a:solidFill>
            <a:srgbClr val="00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Synthesis Stage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29000"/>
            <a:ext cx="11521440" cy="1051560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493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Verified 3-Section Output Format: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💡  Executive Summary  —  Direct answer to the architectural query.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148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🏗  Architectural Breakdown  —  Components | Ports | Signals | Functional Flows.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📑  Evidence &amp; Citations Summary  —  Table: Document name + page + verified fact.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2377440" cy="2926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04  — 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Pre-Trained Models, Frameworks &amp; Libraries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24128"/>
          <a:ext cx="117500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920240"/>
                <a:gridCol w="2560320"/>
                <a:gridCol w="5806440"/>
              </a:tblGrid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F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0F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/ Version</a:t>
                      </a:r>
                    </a:p>
                  </a:txBody>
                  <a:tcPr>
                    <a:solidFill>
                      <a:srgbClr val="0F2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F29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D2FF"/>
                          </a:solidFill>
                          <a:latin typeface="Calibri"/>
                        </a:rPr>
                        <a:t>UI Framework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v1.50+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4-tab interactive web dashboard with custom dark theme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D2FF"/>
                          </a:solidFill>
                          <a:latin typeface="Calibri"/>
                        </a:rPr>
                        <a:t>PDF Extraction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PyMuPDF (fitz)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v1.23+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Page-by-page streaming with provenance metadata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D2FF"/>
                          </a:solidFill>
                          <a:latin typeface="Calibri"/>
                        </a:rPr>
                        <a:t>Embedding Model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Sentence-Transformers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all-MiniLM-L6-v2  (384-dim)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Dense semantic vector generation for chunk indexing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D2FF"/>
                          </a:solidFill>
                          <a:latin typeface="Calibri"/>
                        </a:rPr>
                        <a:t>Vector Database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FAISS CPU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IndexFlatIP  (k=15)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Sub-millisecond cosine similarity candidate recall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D2FF"/>
                          </a:solidFill>
                          <a:latin typeface="Calibri"/>
                        </a:rPr>
                        <a:t>Re-Ranking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Cross-Encoder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ms-marco-MiniLM-L-6-v2  (top-5)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Deep query-passage cross-attention scoring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D2FF"/>
                          </a:solidFill>
                          <a:latin typeface="Calibri"/>
                        </a:rPr>
                        <a:t>Local LLM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Ollama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deepseek-r1:1.5b  (T=0.1)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Private offline inference — no API key, no cloud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D2FF"/>
                          </a:solidFill>
                          <a:latin typeface="Calibri"/>
                        </a:rPr>
                        <a:t>Cloud LLM (Optional)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OpenRouter / OpenAI API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Any supported model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Optional cloud integration for production workloads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D2FF"/>
                          </a:solidFill>
                          <a:latin typeface="Calibri"/>
                        </a:rPr>
                        <a:t>Data &amp; Testing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pandas + pytest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78/78 Tests Passing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CSV export, evaluation benchmark, unit tests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2377440" cy="2926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05  —  KEY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makes this project stand out?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24128"/>
            <a:ext cx="3767328" cy="192024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15568"/>
            <a:ext cx="35112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⚡  Two-Stage RAG Retrieval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E2E8F0"/>
                </a:solidFill>
                <a:latin typeface="Calibri"/>
              </a:rPr>
              <a:t>FAISS bi-encoder vector recall (top-15) + Cross-Encoder re-ranking (top-5). Eliminates false-positive matches common in pure vector search on dense technical text. Elevates domain retrieval precision significantly over standard one-stage RAG.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3" y="1024128"/>
            <a:ext cx="3767328" cy="192024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115568"/>
            <a:ext cx="35112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🛡  Guaranteed Zero Citation Hallucinations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E2E8F0"/>
                </a:solidFill>
                <a:latin typeface="Calibri"/>
              </a:rPr>
              <a:t>Post-generation engine programmatically reconciles every cited row against verified ground-truth chunk metadata (doc_name + page_number). Even if the LLM emits placeholders, they are automatically corrected before display — 100% citation accuracy 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6" y="1024128"/>
            <a:ext cx="3767328" cy="192024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2" y="1115568"/>
            <a:ext cx="35112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🧹  Reasoning Trace Stripping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E2E8F0"/>
                </a:solidFill>
                <a:latin typeface="Calibri"/>
              </a:rPr>
              <a:t>DeepSeek-R1 and similar reasoning models emit verbose internal monologues (&lt;think&gt;...&lt;/think&gt;). Our post-processing cleaner filters all reasoning traces to produce clean, professional 3-section engineering output suitable for automotive design reviews.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3767328" cy="192024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3154680"/>
            <a:ext cx="35112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🔒  100% Offline, Air-Gapped Deployment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E2E8F0"/>
                </a:solidFill>
                <a:latin typeface="Calibri"/>
              </a:rPr>
              <a:t>All inference (embeddings, re-ranking, LLM) runs locally. Proprietary automotive blueprints never leave the workstation. Supports organizations with strict ISO 27001 and UNECE R155 data handling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3" y="3063240"/>
            <a:ext cx="3767328" cy="192024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3154680"/>
            <a:ext cx="35112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📋  Extractive Fallback Mode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E2E8F0"/>
                </a:solidFill>
                <a:latin typeface="Calibri"/>
              </a:rPr>
              <a:t>If Ollama is unavailable, the system automatically switches to a deterministic extractive synthesis engine. Zero functionality degradation — 100% offline capability without GPU or internet.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6" y="3063240"/>
            <a:ext cx="3767328" cy="1920240"/>
          </a:xfrm>
          <a:prstGeom prst="rect">
            <a:avLst/>
          </a:prstGeom>
          <a:solidFill>
            <a:srgbClr val="152033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2" y="3154680"/>
            <a:ext cx="35112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D2FF"/>
                </a:solidFill>
                <a:latin typeface="Calibri"/>
              </a:rPr>
              <a:t>🎨  Modern Cyber-Automotive UI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E2E8F0"/>
                </a:solidFill>
                <a:latin typeface="Calibri"/>
              </a:rPr>
              <a:t>Custom dark UI theme (Cyber-Automotive design system) with gradient typography, glowing tab navigation, glassmorphic cards, and interactive evidence popover inspection for engineering review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2377440" cy="2926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06  —  LIVE 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Demo Flow — What to show the evaluator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640080" cy="502920"/>
          </a:xfrm>
          <a:prstGeom prst="rect">
            <a:avLst/>
          </a:prstGeom>
          <a:solidFill>
            <a:srgbClr val="002755"/>
          </a:solidFill>
          <a:ln w="9525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14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start_app.bat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Double-click to launch. Ollama starts, port 8501 opens, browser auto-opens.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1143000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640080" cy="502920"/>
          </a:xfrm>
          <a:prstGeom prst="rect">
            <a:avLst/>
          </a:prstGeom>
          <a:solidFill>
            <a:srgbClr val="002755"/>
          </a:solidFill>
          <a:ln w="9525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282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Tab 1 — Upload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647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Upload automotive HLD PDF. Click Process. Show page count &amp; text coverage metrics.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1143000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432304"/>
            <a:ext cx="640080" cy="502920"/>
          </a:xfrm>
          <a:prstGeom prst="rect">
            <a:avLst/>
          </a:prstGeom>
          <a:solidFill>
            <a:srgbClr val="002755"/>
          </a:solidFill>
          <a:ln w="9525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Tab 2 —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7802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Ask: "What are the main SWCs and their ports?" — Show 3-section answer &amp; citations 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99232"/>
            <a:ext cx="1143000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45536"/>
            <a:ext cx="640080" cy="502920"/>
          </a:xfrm>
          <a:prstGeom prst="rect">
            <a:avLst/>
          </a:prstGeom>
          <a:solidFill>
            <a:srgbClr val="002755"/>
          </a:solidFill>
          <a:ln w="9525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View Chunks Popover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9125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Click "🔍 View Retrieved Chunks" — show raw evidence passages with re-rank scores and deltas.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12464"/>
            <a:ext cx="1143000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58768"/>
            <a:ext cx="640080" cy="502920"/>
          </a:xfrm>
          <a:prstGeom prst="rect">
            <a:avLst/>
          </a:prstGeom>
          <a:solidFill>
            <a:srgbClr val="002755"/>
          </a:solidFill>
          <a:ln w="9525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67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Tab 3 — Architecture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044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Show heuristic component table. Click Generate AI Summary for deep executive synthesis.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25696"/>
            <a:ext cx="1143000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572000"/>
            <a:ext cx="640080" cy="502920"/>
          </a:xfrm>
          <a:prstGeom prst="rect">
            <a:avLst/>
          </a:prstGeom>
          <a:solidFill>
            <a:srgbClr val="002755"/>
          </a:solidFill>
          <a:ln w="9525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0D2FF"/>
                </a:solidFill>
                <a:latin typeface="Calibri"/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581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stop_app.bat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Clean shutdown of Streamlit + Ollama. Show pytest: python -m pytest tests/ → 78/78 passed.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38928"/>
            <a:ext cx="11430000" cy="182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D2FF"/>
                </a:solidFill>
                <a:latin typeface="Calibri"/>
              </a:rPr>
              <a:t>💡  Key phrase to say:  "Every answer is grounded — the LLM cannot make up facts because citations are programmatically verified against source chunks."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2377440" cy="2926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07  —  EVALUATION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Test Suite &amp; Domain Evaluation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743200" cy="1371600"/>
          </a:xfrm>
          <a:prstGeom prst="rect">
            <a:avLst/>
          </a:prstGeom>
          <a:solidFill>
            <a:srgbClr val="1520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0D2FF"/>
                </a:solidFill>
                <a:latin typeface="Calibri"/>
              </a:rPr>
              <a:t>78 / 78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Tests Passing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  <a:latin typeface="Calibri"/>
              </a:rPr>
              <a:t>pytest automated unit &amp;
integration suite (100%)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005840"/>
            <a:ext cx="2743200" cy="1371600"/>
          </a:xfrm>
          <a:prstGeom prst="rect">
            <a:avLst/>
          </a:prstGeom>
          <a:solidFill>
            <a:srgbClr val="1520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0D2FF"/>
                </a:solidFill>
                <a:latin typeface="Calibri"/>
              </a:rPr>
              <a:t>100%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Citation Accuracy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  <a:latin typeface="Calibri"/>
              </a:rPr>
              <a:t>Programmatic ground-truth
verification of page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4496" y="1005840"/>
            <a:ext cx="2743200" cy="1371600"/>
          </a:xfrm>
          <a:prstGeom prst="rect">
            <a:avLst/>
          </a:prstGeom>
          <a:solidFill>
            <a:srgbClr val="1520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0D2FF"/>
                </a:solidFill>
                <a:latin typeface="Calibri"/>
              </a:rPr>
              <a:t>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Reasoning Leakage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  <a:latin typeface="Calibri"/>
              </a:rPr>
              <a:t>&lt;think&gt; traces stripped
before frontend display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98864" y="1005840"/>
            <a:ext cx="2743200" cy="1371600"/>
          </a:xfrm>
          <a:prstGeom prst="rect">
            <a:avLst/>
          </a:prstGeom>
          <a:solidFill>
            <a:srgbClr val="152033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0D2FF"/>
                </a:solidFill>
                <a:latin typeface="Calibri"/>
              </a:rPr>
              <a:t>10 / 10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Eval Questions</a:t>
            </a:r>
          </a:p>
          <a:p>
            <a:pPr algn="ctr"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  <a:latin typeface="Calibri"/>
              </a:rPr>
              <a:t>Component, signal, interface
&amp; edge-case benchmark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5603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  <a:gridCol w="3200400"/>
              </a:tblGrid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Evaluation Dimension</a:t>
                      </a:r>
                    </a:p>
                  </a:txBody>
                  <a:tcPr>
                    <a:solidFill>
                      <a:srgbClr val="0F2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Was Tested</a:t>
                      </a:r>
                    </a:p>
                  </a:txBody>
                  <a:tcPr>
                    <a:solidFill>
                      <a:srgbClr val="0F2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F294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Calibri"/>
                        </a:rPr>
                        <a:t>Unit &amp; Integration Tests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78 cases across PDF, Chunker, FAISS, Re-ranker, LLM modules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D2FF"/>
                          </a:solidFill>
                          <a:latin typeface="Calibri"/>
                        </a:rPr>
                        <a:t>✅  78 / 78 Passed  (25s)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Calibri"/>
                        </a:rPr>
                        <a:t>Citation Correctness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Every cited page verified against source chunk ground-truth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D2FF"/>
                          </a:solidFill>
                          <a:latin typeface="Calibri"/>
                        </a:rPr>
                        <a:t>✅  100% Accuracy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Calibri"/>
                        </a:rPr>
                        <a:t>Reasoning Cleansing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DeepSeek-R1 &lt;think&gt; tags stripped; clean 3-section output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D2FF"/>
                          </a:solidFill>
                          <a:latin typeface="Calibri"/>
                        </a:rPr>
                        <a:t>✅  Zero Leakage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Calibri"/>
                        </a:rPr>
                        <a:t>10-Question Benchmark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Components, ports, signals, dependencies, off-topic rejection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D2FF"/>
                          </a:solidFill>
                          <a:latin typeface="Calibri"/>
                        </a:rPr>
                        <a:t>✅  Full Coverage</a:t>
                      </a:r>
                    </a:p>
                  </a:txBody>
                  <a:tcPr>
                    <a:solidFill>
                      <a:srgbClr val="15203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Calibri"/>
                        </a:rPr>
                        <a:t>Re-Ranking Precision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Calibri"/>
                        </a:rPr>
                        <a:t>Cross-Encoder vs raw vector similarity comparison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D2FF"/>
                          </a:solidFill>
                          <a:latin typeface="Calibri"/>
                        </a:rPr>
                        <a:t>✅  Higher Domain Recall</a:t>
                      </a:r>
                    </a:p>
                  </a:txBody>
                  <a:tcPr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"/>
            <a:ext cx="2377440" cy="2926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D2FF"/>
                </a:solidFill>
                <a:latin typeface="Calibri"/>
              </a:rPr>
              <a:t>08  —  RESPONSIBLE AI  &amp; 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Responsible AI Practices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2FF"/>
                </a:solidFill>
                <a:latin typeface="Calibri"/>
              </a:rPr>
              <a:t>🛡  Responsible AI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🔒  Privacy-First:  All inference is 100% local via Ollama.
    Proprietary HLD data never reaches cloud servers.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🔍  Anti-Hallucination Grounding:  LLM is strictly
    constrained to retrieved document evidence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👁  Human Oversight:  Engineers can inspect raw retrieved
    passages, scores, and re-ranking deltas before acting.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📋  Clear Disclaimer:  Non-certification notice shown
    prominently — tool is an engineering assistant, not
    an automated AUTOSAR compliance certifier.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📖  Source Auditability:  Every answer links back to
    exact document page for human verification.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60120"/>
            <a:ext cx="27432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2FF"/>
                </a:solidFill>
                <a:latin typeface="Calibri"/>
              </a:rPr>
              <a:t>🚀  Future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94960" cy="7498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Hybrid BM25 + Dense Search</a:t>
            </a:r>
          </a:p>
          <a:p>
            <a:r>
              <a:rPr sz="880">
                <a:solidFill>
                  <a:srgbClr val="94A3B8"/>
                </a:solidFill>
                <a:latin typeface="Calibri"/>
              </a:rPr>
              <a:t>Combine keyword sparse retrieval with semantic
vectors for higher recall on signal-level queries.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5394960" cy="7498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Native OCR Integration</a:t>
            </a:r>
          </a:p>
          <a:p>
            <a:r>
              <a:rPr sz="880">
                <a:solidFill>
                  <a:srgbClr val="94A3B8"/>
                </a:solidFill>
                <a:latin typeface="Calibri"/>
              </a:rPr>
              <a:t>Add Tesseract/PaddleOCR for scanned legacy
automotive blueprint ingestion.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00400"/>
            <a:ext cx="5394960" cy="7498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ARXML Direct Parsing</a:t>
            </a:r>
          </a:p>
          <a:p>
            <a:r>
              <a:rPr sz="880">
                <a:solidFill>
                  <a:srgbClr val="94A3B8"/>
                </a:solidFill>
                <a:latin typeface="Calibri"/>
              </a:rPr>
              <a:t>Parse AUTOSAR XML (.arxml) files alongside
PDF for richer structural traceability.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114800"/>
            <a:ext cx="5394960" cy="7498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ADAS / Functional Safety</a:t>
            </a:r>
          </a:p>
          <a:p>
            <a:r>
              <a:rPr sz="880">
                <a:solidFill>
                  <a:srgbClr val="94A3B8"/>
                </a:solidFill>
                <a:latin typeface="Calibri"/>
              </a:rPr>
              <a:t>Extend domain to ISO 26262 HARA documents,
FMEA tables, and SOTIF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5029200"/>
            <a:ext cx="5394960" cy="749808"/>
          </a:xfrm>
          <a:prstGeom prst="rect">
            <a:avLst/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Multi-Agent Orchestration</a:t>
            </a:r>
          </a:p>
          <a:p>
            <a:r>
              <a:rPr sz="880">
                <a:solidFill>
                  <a:srgbClr val="94A3B8"/>
                </a:solidFill>
                <a:latin typeface="Calibri"/>
              </a:rPr>
              <a:t>Specialized sub-agents for SWC, BSW, and
Network topology analysis in parallel.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2FF"/>
                </a:solidFill>
                <a:latin typeface="Calibri"/>
              </a:rPr>
              <a:t>AUTOSAR HLD Intelligence &amp; Traceability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Open for Questions &amp; 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29000"/>
            <a:ext cx="1106424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⚡  Two-Stage RAG  —  FAISS (top-15) + Cross-Encoder Re-Ranking (top-5)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🔒  100% Offline Local LLM  —  Ollama deepseek-r1:1.5b  |  Zero cloud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✅  Verified Citations  —  Programmatic ground-truth page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🧪  78 / 78 Tests Passing  —  Full automated unit &amp; integration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17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Built with Python 3.11  •  Streamlit  •  Sentence-Transformers  •  FAISS  •  Cross-Encoder  •  Ollama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